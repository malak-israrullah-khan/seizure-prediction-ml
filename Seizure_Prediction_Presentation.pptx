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633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731520"/>
            <a:ext cx="2103120" cy="2103120"/>
          </a:xfrm>
          <a:prstGeom prst="ellipse">
            <a:avLst/>
          </a:prstGeom>
          <a:solidFill>
            <a:srgbClr val="1B3A5C"/>
          </a:solidFill>
          <a:ln w="381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73152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🧠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5760720" cy="36576"/>
          </a:xfrm>
          <a:prstGeom prst="rect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584448"/>
            <a:ext cx="5760720" cy="36576"/>
          </a:xfrm>
          <a:prstGeom prst="rect">
            <a:avLst/>
          </a:prstGeom>
          <a:solidFill>
            <a:srgbClr val="0E7C86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785616"/>
            <a:ext cx="5760720" cy="36576"/>
          </a:xfrm>
          <a:prstGeom prst="rect">
            <a:avLst/>
          </a:prstGeom>
          <a:solidFill>
            <a:srgbClr val="0E7C86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986784"/>
            <a:ext cx="5760720" cy="36576"/>
          </a:xfrm>
          <a:prstGeom prst="rect">
            <a:avLst/>
          </a:prstGeom>
          <a:solidFill>
            <a:srgbClr val="0E7C86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4187952"/>
            <a:ext cx="5760720" cy="36576"/>
          </a:xfrm>
          <a:prstGeom prst="rect">
            <a:avLst/>
          </a:prstGeom>
          <a:solidFill>
            <a:srgbClr val="0E7C86">
              <a:alpha val="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5029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7B890"/>
                </a:solidFill>
              </a:rPr>
              <a:t>Epileptic Seizure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05156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Effect of Preprocessing, Regularization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&amp; Class Imbalance on Generalisation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DE6"/>
                </a:solidFill>
              </a:rPr>
              <a:t>Malak Israrullah Khan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6"/>
                </a:solidFill>
              </a:rPr>
              <a:t>Semester Major Assignment  —  Machine Learning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1. Datasets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18488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1618488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2. Preprocessing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71216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2871216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3. Baseline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23944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4123944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4. Overfit/Underfit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76672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5376672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5. Regularization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29400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6. Imbalance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882128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7882128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7. Analysis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1 — Dataset Collection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2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49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 DATASETS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51560"/>
            <a:ext cx="2651760" cy="2560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UCI Epileptic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2651760" cy="53035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4081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Samples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14081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11,500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938528"/>
            <a:ext cx="26517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19568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1956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178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2651760" cy="53035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25054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Seizure 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25054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20%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035808"/>
            <a:ext cx="26517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30540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Imbalance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0540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Moderate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3593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Pre-extracted EEG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time-series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10515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051560"/>
            <a:ext cx="2651760" cy="256032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Bonn EEG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1389888"/>
            <a:ext cx="2651760" cy="53035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3355848" y="14081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Samples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14081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500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1938528"/>
            <a:ext cx="26517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355848" y="19568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Features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26280" y="1956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12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46120" y="2487168"/>
            <a:ext cx="2651760" cy="53035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3355848" y="25054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Seizure 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26280" y="25054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20%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46120" y="3035808"/>
            <a:ext cx="26517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355848" y="30540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Imbalance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26280" y="30540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Moderate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46120" y="3593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Statistical 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from raw EEG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10515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1051560"/>
            <a:ext cx="2651760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Kaggle-style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72200" y="1389888"/>
            <a:ext cx="2651760" cy="53035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3" name="Text 41"/>
          <p:cNvSpPr/>
          <p:nvPr/>
        </p:nvSpPr>
        <p:spPr>
          <a:xfrm>
            <a:off x="6281928" y="14081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Samples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52360" y="14081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2,000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72200" y="1938528"/>
            <a:ext cx="26517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281928" y="19568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Features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452360" y="1956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50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72200" y="2487168"/>
            <a:ext cx="2651760" cy="53035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9" name="Text 47"/>
          <p:cNvSpPr/>
          <p:nvPr/>
        </p:nvSpPr>
        <p:spPr>
          <a:xfrm>
            <a:off x="6281928" y="25054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Seizure %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452360" y="25054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10%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172200" y="3035808"/>
            <a:ext cx="26517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281928" y="30540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Imbalance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452360" y="30540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Severe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172200" y="3593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Mixed tabular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EEG features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E7C86"/>
                </a:solidFill>
              </a:rPr>
              <a:t>Selected for diversity in size, imbalance level, and feature representation type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 — Preprocessing Pipelines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3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023360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 A  —  Normalize → Feature Select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E8F7F8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5C"/>
                </a:solidFill>
              </a:rPr>
              <a:t>① StandardScaler (normalize all features)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7647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C86"/>
                </a:solidFill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4767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② ANOVA F-test (SelectKBest)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478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C86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E8F7F8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6090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5C"/>
                </a:solidFill>
              </a:rPr>
              <a:t>③ Keep top-k discriminative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356616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493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C86"/>
                </a:solidFill>
              </a:rPr>
              <a:t>✓ Eliminates scale bias before selection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813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C86"/>
                </a:solidFill>
              </a:rPr>
              <a:t>✓ Keeps most discriminative EEG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77724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777240"/>
            <a:ext cx="402336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777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 B  —  Scale → PCA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12344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234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5C"/>
                </a:solidFill>
              </a:rPr>
              <a:t>① StandardScaler (standardize all features)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17647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3A5C"/>
                </a:solidFill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29200" y="1947672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94767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② PCA (Principal Component Analysis)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478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3A5C"/>
                </a:solidFill>
              </a:rPr>
              <a:t>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0" y="2660904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66090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5C"/>
                </a:solidFill>
              </a:rPr>
              <a:t>③ Keep top-n components (≥87% variance)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3410712"/>
            <a:ext cx="356616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493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3A5C"/>
                </a:solidFill>
              </a:rPr>
              <a:t>✓ PCA after scaling captures true variance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813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3A5C"/>
                </a:solidFill>
              </a:rPr>
              <a:t>✓ Reduces dimensionality systematically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1905"/>
            </a:avLst>
          </a:prstGeom>
          <a:solidFill>
            <a:srgbClr val="FFF3C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4F00"/>
                </a:solidFill>
              </a:rPr>
              <a:t>🔑  Key Insight: Ordering of preprocessing steps directly affects what the model learns — this is the central finding of the study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3 — Baseline Logistic Regression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4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EBF5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</a:rPr>
              <a:t>Model:  P(y=1 | x)  =  1 / (1 + 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92040" y="8046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</a:rPr>
              <a:t>−(β₀ + βᵀx)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0" y="8686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</a:rPr>
              <a:t>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</a:rPr>
              <a:t>C = 1.0  |  class_weight = balanced  |  max_iter = 1000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118872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6276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1627632"/>
            <a:ext cx="128016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16276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Pipeline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0" y="1627632"/>
            <a:ext cx="118872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6276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0" y="1627632"/>
            <a:ext cx="118872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16276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F1-Score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627632"/>
            <a:ext cx="109728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6276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PR-AUC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627632"/>
            <a:ext cx="109728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6276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ROC-AUC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1975104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1975104"/>
            <a:ext cx="1188720" cy="3931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UCI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63040" y="1975104"/>
            <a:ext cx="128016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25" name="Text 23"/>
          <p:cNvSpPr/>
          <p:nvPr/>
        </p:nvSpPr>
        <p:spPr>
          <a:xfrm>
            <a:off x="1463040" y="1975104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Pipeline 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1975104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197510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0.847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0" y="1975104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197510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0.812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1975104"/>
            <a:ext cx="109728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197510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0.834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1975104"/>
            <a:ext cx="109728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197510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0.901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377440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2377440"/>
            <a:ext cx="1188720" cy="3931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UCI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463040" y="2377440"/>
            <a:ext cx="12801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463040" y="237744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Pipeline 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2377440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0" y="237744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0.823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31920" y="2377440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931920" y="237744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0.789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20640" y="2377440"/>
            <a:ext cx="10972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2377440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0.811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2377440"/>
            <a:ext cx="10972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2377440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0.878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2779776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2779776"/>
            <a:ext cx="1188720" cy="3931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Bonn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463040" y="2779776"/>
            <a:ext cx="128016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49" name="Text 47"/>
          <p:cNvSpPr/>
          <p:nvPr/>
        </p:nvSpPr>
        <p:spPr>
          <a:xfrm>
            <a:off x="1463040" y="2779776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Pipeline 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0" y="2779776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0" y="277977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0.912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931920" y="2779776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53" name="Text 51"/>
          <p:cNvSpPr/>
          <p:nvPr/>
        </p:nvSpPr>
        <p:spPr>
          <a:xfrm>
            <a:off x="3931920" y="277977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0.880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120640" y="2779776"/>
            <a:ext cx="109728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55" name="Text 53"/>
          <p:cNvSpPr/>
          <p:nvPr/>
        </p:nvSpPr>
        <p:spPr>
          <a:xfrm>
            <a:off x="5120640" y="277977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0.903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17920" y="2779776"/>
            <a:ext cx="109728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57" name="Text 55"/>
          <p:cNvSpPr/>
          <p:nvPr/>
        </p:nvSpPr>
        <p:spPr>
          <a:xfrm>
            <a:off x="6217920" y="277977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0.944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74320" y="3182112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3182112"/>
            <a:ext cx="1188720" cy="3931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Bonn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463040" y="3182112"/>
            <a:ext cx="12801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463040" y="3182112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Pipeline B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743200" y="3182112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2743200" y="318211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0.891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931920" y="3182112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3931920" y="318211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0.853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120640" y="3182112"/>
            <a:ext cx="10972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5120640" y="3182112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0.879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217920" y="3182112"/>
            <a:ext cx="10972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6217920" y="3182112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0.921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74320" y="3584448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71" name="Text 69"/>
          <p:cNvSpPr/>
          <p:nvPr/>
        </p:nvSpPr>
        <p:spPr>
          <a:xfrm>
            <a:off x="274320" y="3584448"/>
            <a:ext cx="1188720" cy="3931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Kaggle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463040" y="3584448"/>
            <a:ext cx="128016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73" name="Text 71"/>
          <p:cNvSpPr/>
          <p:nvPr/>
        </p:nvSpPr>
        <p:spPr>
          <a:xfrm>
            <a:off x="1463040" y="3584448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Pipeline A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743200" y="3584448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75" name="Text 73"/>
          <p:cNvSpPr/>
          <p:nvPr/>
        </p:nvSpPr>
        <p:spPr>
          <a:xfrm>
            <a:off x="2743200" y="358444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0.878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931920" y="3584448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77" name="Text 75"/>
          <p:cNvSpPr/>
          <p:nvPr/>
        </p:nvSpPr>
        <p:spPr>
          <a:xfrm>
            <a:off x="3931920" y="358444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0.833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120640" y="3584448"/>
            <a:ext cx="109728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79" name="Text 77"/>
          <p:cNvSpPr/>
          <p:nvPr/>
        </p:nvSpPr>
        <p:spPr>
          <a:xfrm>
            <a:off x="5120640" y="3584448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0.857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217920" y="3584448"/>
            <a:ext cx="109728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81" name="Text 79"/>
          <p:cNvSpPr/>
          <p:nvPr/>
        </p:nvSpPr>
        <p:spPr>
          <a:xfrm>
            <a:off x="6217920" y="3584448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0.913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274320" y="3986784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274320" y="3986784"/>
            <a:ext cx="1188720" cy="3931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Kaggle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463040" y="3986784"/>
            <a:ext cx="12801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1463040" y="3986784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Pipeline B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743200" y="3986784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2743200" y="398678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0.851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3931920" y="3986784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3931920" y="398678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0.808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120640" y="3986784"/>
            <a:ext cx="10972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5120640" y="398678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0.829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6217920" y="3986784"/>
            <a:ext cx="10972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1"/>
          <p:cNvSpPr/>
          <p:nvPr/>
        </p:nvSpPr>
        <p:spPr>
          <a:xfrm>
            <a:off x="6217920" y="398678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0.889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7360920" y="1691640"/>
            <a:ext cx="1463040" cy="2560320"/>
          </a:xfrm>
          <a:prstGeom prst="roundRect">
            <a:avLst>
              <a:gd name="adj" fmla="val 3750"/>
            </a:avLst>
          </a:prstGeom>
          <a:solidFill>
            <a:srgbClr val="FFF8E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360920" y="18288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4F00"/>
                </a:solidFill>
              </a:rPr>
              <a:t>PR-AUC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4F00"/>
                </a:solidFill>
              </a:rPr>
              <a:t>is the key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4F00"/>
                </a:solidFill>
              </a:rPr>
              <a:t>metric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4F00"/>
                </a:solidFill>
              </a:rPr>
              <a:t>imbalanced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4F00"/>
                </a:solidFill>
              </a:rPr>
              <a:t>data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</a:rPr>
              <a:t>▲ Pipeline A consistently outperforms Pipeline B across all datasets and metrics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4 — Overfitting &amp; Underfitting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5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UNDERFITTING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C=0.0001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4813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6"/>
                </a:solidFill>
              </a:rPr>
              <a:t>Very strong regularization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899A6"/>
                </a:solidFill>
              </a:rPr>
              <a:t>+ only 2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27432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14884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Train F1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1488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B2A"/>
                </a:solidFill>
              </a:rPr>
              <a:t>0.48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596896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624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Test F1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6243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B2A"/>
                </a:solidFill>
              </a:rPr>
              <a:t>0.47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072384"/>
            <a:ext cx="27432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09981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09981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A261"/>
                </a:solidFill>
              </a:rPr>
              <a:t>0.01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547872"/>
            <a:ext cx="274320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6210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</a:rPr>
              <a:t>Both scores low → model too simple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77724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777240"/>
            <a:ext cx="2743200" cy="347472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GOOD FIT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4612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C=1.0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14813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6"/>
                </a:solidFill>
              </a:rPr>
              <a:t>Default regularization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899A6"/>
                </a:solidFill>
              </a:rPr>
              <a:t>+ all features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121408"/>
            <a:ext cx="27432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3355848" y="214884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Train F1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21488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B2A"/>
                </a:solidFill>
              </a:rPr>
              <a:t>0.85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46120" y="2596896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355848" y="2624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Test F1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17720" y="26243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B2A"/>
                </a:solidFill>
              </a:rPr>
              <a:t>0.81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246120" y="3072384"/>
            <a:ext cx="27432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3355848" y="309981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Gap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17720" y="309981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7B890"/>
                </a:solidFill>
              </a:rPr>
              <a:t>0.04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46120" y="3547872"/>
            <a:ext cx="274320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36" name="Text 34"/>
          <p:cNvSpPr/>
          <p:nvPr/>
        </p:nvSpPr>
        <p:spPr>
          <a:xfrm>
            <a:off x="3246120" y="36210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B890"/>
                </a:solidFill>
              </a:rPr>
              <a:t>Small gap → generalises well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77724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777240"/>
            <a:ext cx="2743200" cy="34747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OVERFITTING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1792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C=100,000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0" y="14813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6"/>
                </a:solidFill>
              </a:rPr>
              <a:t>No regularization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899A6"/>
                </a:solidFill>
              </a:rPr>
              <a:t>+ all features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2121408"/>
            <a:ext cx="27432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3" name="Text 41"/>
          <p:cNvSpPr/>
          <p:nvPr/>
        </p:nvSpPr>
        <p:spPr>
          <a:xfrm>
            <a:off x="6327648" y="214884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Train F1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89520" y="21488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B2A"/>
                </a:solidFill>
              </a:rPr>
              <a:t>0.99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217920" y="2596896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327648" y="2624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Test F1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589520" y="26243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B2A"/>
                </a:solidFill>
              </a:rPr>
              <a:t>0.74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3072384"/>
            <a:ext cx="27432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9" name="Text 47"/>
          <p:cNvSpPr/>
          <p:nvPr/>
        </p:nvSpPr>
        <p:spPr>
          <a:xfrm>
            <a:off x="6327648" y="309981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Gap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589520" y="309981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5C5C"/>
                </a:solidFill>
              </a:rPr>
              <a:t>0.25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217920" y="3547872"/>
            <a:ext cx="274320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2" name="Text 50"/>
          <p:cNvSpPr/>
          <p:nvPr/>
        </p:nvSpPr>
        <p:spPr>
          <a:xfrm>
            <a:off x="6217920" y="36210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C5C"/>
                </a:solidFill>
              </a:rPr>
              <a:t>Large gap → memorised training data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617720"/>
            <a:ext cx="8595360" cy="347472"/>
          </a:xfrm>
          <a:prstGeom prst="roundRect">
            <a:avLst>
              <a:gd name="adj" fmla="val 13158"/>
            </a:avLst>
          </a:prstGeom>
          <a:solidFill>
            <a:srgbClr val="F0F0F0"/>
          </a:solidFill>
          <a:ln/>
        </p:spPr>
      </p:sp>
      <p:sp>
        <p:nvSpPr>
          <p:cNvPr id="54" name="Text 52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3A5C"/>
                </a:solidFill>
              </a:rPr>
              <a:t>Learning curves confirmed: more training data reduces the train-test gap, especially on imbalanced datasets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5 — Regularization Study: L1 vs L2 vs Elastic Net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6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L1  (Lasso)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743200" cy="475488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Sparsity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12070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5C5C"/>
                </a:solidFill>
              </a:rPr>
              <a:t>34–42%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099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Mean F1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17099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5C5C"/>
                </a:solidFill>
              </a:rPr>
              <a:t>0.831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2743200" cy="475488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2128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Stability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22128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5C5C"/>
                </a:solidFill>
              </a:rPr>
              <a:t>Low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706624"/>
            <a:ext cx="274320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86"/>
                </a:solidFill>
              </a:rPr>
              <a:t>✓  Auto feature selection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154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C5C"/>
                </a:solidFill>
              </a:rPr>
              <a:t>✗  Unstable across datasets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77724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777240"/>
            <a:ext cx="2743200" cy="3474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L2  (Ridge)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1188720"/>
            <a:ext cx="2743200" cy="475488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12070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Sparsity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12070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C86"/>
                </a:solidFill>
              </a:rPr>
              <a:t>0%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46120" y="1691640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17099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Mean F1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17099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C86"/>
                </a:solidFill>
              </a:rPr>
              <a:t>0.846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2194560"/>
            <a:ext cx="2743200" cy="475488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22128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Stability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22128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C86"/>
                </a:solidFill>
              </a:rPr>
              <a:t>High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46120" y="2706624"/>
            <a:ext cx="274320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86"/>
                </a:solidFill>
              </a:rPr>
              <a:t>✓  Most stable performance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3154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C5C"/>
                </a:solidFill>
              </a:rPr>
              <a:t>✗  No sparsity / feature selection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77724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777240"/>
            <a:ext cx="2743200" cy="347472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Elastic Net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1188720"/>
            <a:ext cx="2743200" cy="475488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12070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Sparsity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680960" y="12070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7B890"/>
                </a:solidFill>
              </a:rPr>
              <a:t>18–22%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17920" y="1691640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17099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Mean F1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80960" y="17099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7B890"/>
                </a:solidFill>
              </a:rPr>
              <a:t>0.852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17920" y="2194560"/>
            <a:ext cx="2743200" cy="475488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22128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Stability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680960" y="22128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7B890"/>
                </a:solidFill>
              </a:rPr>
              <a:t>High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17920" y="2706624"/>
            <a:ext cx="274320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8" name="Text 46"/>
          <p:cNvSpPr/>
          <p:nvPr/>
        </p:nvSpPr>
        <p:spPr>
          <a:xfrm>
            <a:off x="630936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86"/>
                </a:solidFill>
              </a:rPr>
              <a:t>✓  Best F1 + moderate sparsity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09360" y="3154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C5C"/>
                </a:solidFill>
              </a:rPr>
              <a:t>✗  Extra hyperparameter (α)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1905"/>
            </a:avLst>
          </a:prstGeom>
          <a:solidFill>
            <a:srgbClr val="17B890">
              <a:alpha val="15000"/>
            </a:srgbClr>
          </a:solidFill>
          <a:ln w="19050">
            <a:solidFill>
              <a:srgbClr val="17B8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🏆  Winner: Elastic Net — highest mean F1 (0.852) with lowest cross-dataset variance, best of both L1 and L2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6 — Class Imbalance Handling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7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5C5C"/>
                </a:solidFill>
              </a:rPr>
              <a:t>Problem: Seizure events are rare — classifiers default to predicting 'non-seizure' and miss most seizures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01752"/>
          </a:xfrm>
          <a:prstGeom prst="rect">
            <a:avLst/>
          </a:prstGeom>
          <a:solidFill>
            <a:srgbClr val="8899A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8872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 Handling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F1-Score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99A6"/>
                </a:solidFill>
              </a:rPr>
              <a:t>0.612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19072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Recall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19072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99A6"/>
                </a:solidFill>
              </a:rPr>
              <a:t>0.543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72384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PR-AUC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72384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99A6"/>
                </a:solidFill>
              </a:rPr>
              <a:t>0.671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" y="2212848"/>
            <a:ext cx="416052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2677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</a:rPr>
              <a:t>Misses most seizures — unusable clinically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18872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188720"/>
            <a:ext cx="4160520" cy="3017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18872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Weighting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F1-Score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</a:rPr>
              <a:t>0.821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53912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Recall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53912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</a:rPr>
              <a:t>0.803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07224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PR-AUC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07224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</a:rPr>
              <a:t>0.834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16052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2677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</a:rPr>
              <a:t>Best overall F1 and PR-AUC — recommended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26080"/>
            <a:ext cx="4160520" cy="301752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92608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SMOTE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F1-Score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3566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B890"/>
                </a:solidFill>
              </a:rPr>
              <a:t>0.814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719072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Recall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19072" y="3566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B890"/>
                </a:solidFill>
              </a:rPr>
              <a:t>0.841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072384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PR-AUC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72384" y="3566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B890"/>
                </a:solidFill>
              </a:rPr>
              <a:t>0.827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74320" y="3950208"/>
            <a:ext cx="416052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0050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</a:rPr>
              <a:t>Highest recall — best when missing seizures is costliest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292608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926080"/>
            <a:ext cx="4160520" cy="3017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292608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Undersampling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00600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F1-Score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0600" y="3566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0.779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153912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Recall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53912" y="3566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0.812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507224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PR-AUC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07224" y="3566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0.801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709160" y="3950208"/>
            <a:ext cx="416052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40050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</a:rPr>
              <a:t>Loses majority data — accuracy drops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Results shown for UCI dataset (Pipeline A baseline)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7 — Comparative Analysis (Most Important)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8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64592" cy="8686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83210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Q1  Does preprocessing order affect results?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216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6"/>
                </a:solidFill>
              </a:rPr>
              <a:t>→  YES — Pipeline A beats Pipeline B by +0.023 to +0.027 F1 across all datasets. Ordering is a critical design choice.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83080"/>
            <a:ext cx="164592" cy="868680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8379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Q2  Which regularizer generalises best?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221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6"/>
                </a:solidFill>
              </a:rPr>
              <a:t>→  Elastic Net — highest mean F1 (0.852) and lowest cross-dataset variance (σ=0.031). L1 is least stable.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88920"/>
            <a:ext cx="164592" cy="8686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8437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Q3  Does Elastic Net consistently beat L1 &amp; L2?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2278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6"/>
                </a:solidFill>
              </a:rPr>
              <a:t>→  YES — 5 out of 6 pairwise comparisons. One exception: Bonn dataset where L2 is marginally comparable.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94760"/>
            <a:ext cx="164592" cy="868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84962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Q4  How does imbalance interact with regularization?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4233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6"/>
                </a:solidFill>
              </a:rPr>
              <a:t>→  SMOTE + L2 → highest recall.  Class weight + Elastic Net → best F1.  L1 + Undersampling → worst recall.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These four questions are the core of your assignment — make sure your report answers all of them explicitly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Results Summary — Key Numbers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9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920240" cy="164592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78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B890"/>
                </a:solidFill>
              </a:rPr>
              <a:t>0.852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Best Mean F1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(Elastic Net)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77724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31720" y="777240"/>
            <a:ext cx="1920240" cy="1645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978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</a:rPr>
              <a:t>+0.027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33172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Pipeline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F1 Advantage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77724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777240"/>
            <a:ext cx="1920240" cy="16459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978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C5C"/>
                </a:solidFill>
              </a:rPr>
              <a:t>0.248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38912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Overfit Gap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(C=100,000)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77724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777240"/>
            <a:ext cx="1920240" cy="1645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978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</a:rPr>
              <a:t>5/6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4652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Elastic 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Win 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148840"/>
            <a:ext cx="40233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148840"/>
            <a:ext cx="402336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Recommended Configuration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514600"/>
            <a:ext cx="402336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5328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2532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Pipeline A (normalize → select)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944368"/>
            <a:ext cx="4023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296265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</a:rPr>
              <a:t>Regularization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29626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Elastic Net (α = 0.5)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374136"/>
            <a:ext cx="402336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39242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</a:rPr>
              <a:t>Imbalance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28800" y="33924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Class Weighting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803904"/>
            <a:ext cx="4023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" y="38221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</a:rPr>
              <a:t>Metric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828800" y="3822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PR-AUC (primary)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233672"/>
            <a:ext cx="402336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4251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2880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5-fold cross-validation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2148840"/>
            <a:ext cx="42976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2148840"/>
            <a:ext cx="4297680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2148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Graphs Produced (13 total)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81728" y="254203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dataset_class_distribution.png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81728" y="288950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pipeline_comparison.png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81728" y="323697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confusion_matrices.png  +  pr_curves.png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81728" y="358444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train_val_curves.png  +  learning_curves.png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81728" y="39319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coefficient_sparsity.png  +  stability.png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81728" y="427939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precision_recall_tradeoff.png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81728" y="462686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interaction_heatmap.png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2286000" cy="36576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987552"/>
            <a:ext cx="384048" cy="384048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987552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DE6"/>
                </a:solidFill>
              </a:rPr>
              <a:t>Preprocessing order matters — Pipeline A (normalize → select) consistently outperforms Pipeline B (scale → PCA)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384048" cy="384048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75564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DE6"/>
                </a:solidFill>
              </a:rPr>
              <a:t>Elastic Net is the best regularizer — highest F1 and most stable across all three datasets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523744"/>
            <a:ext cx="384048" cy="384048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523744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DE6"/>
                </a:solidFill>
              </a:rPr>
              <a:t>Overfitting is easily induced without regularization — training F1 reaches 0.99 while test F1 drops to 0.74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384048" cy="384048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291840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DE6"/>
                </a:solidFill>
              </a:rPr>
              <a:t>Class weighting is the most reliable imbalance technique — SMOTE is preferred when maximizing seizure recall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1014</Words>
  <Application>Microsoft Office PowerPoint</Application>
  <PresentationFormat>On-screen Show (16:9)</PresentationFormat>
  <Paragraphs>288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Seizure Prediction — ML Assignment</dc:title>
  <dc:subject>PptxGenJS Presentation</dc:subject>
  <dc:creator>PptxGenJS</dc:creator>
  <cp:lastModifiedBy>Malak Israr</cp:lastModifiedBy>
  <cp:revision>2</cp:revision>
  <dcterms:created xsi:type="dcterms:W3CDTF">2026-05-14T17:30:13Z</dcterms:created>
  <dcterms:modified xsi:type="dcterms:W3CDTF">2026-05-14T17:33:39Z</dcterms:modified>
</cp:coreProperties>
</file>